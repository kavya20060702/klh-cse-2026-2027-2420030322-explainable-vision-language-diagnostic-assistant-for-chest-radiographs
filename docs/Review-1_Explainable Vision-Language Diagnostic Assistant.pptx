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3.png"/><Relationship Id="rId5" Type="http://schemas.openxmlformats.org/officeDocument/2006/relationships/image" Target="../media/image29.png"/><Relationship Id="rId10" Type="http://schemas.openxmlformats.org/officeDocument/2006/relationships/image" Target="../media/image32.png"/><Relationship Id="rId4" Type="http://schemas.openxmlformats.org/officeDocument/2006/relationships/image" Target="../media/image14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428625"/>
            <a:ext cx="2619375" cy="314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5705475"/>
            <a:ext cx="2671762" cy="723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037" y="5705475"/>
            <a:ext cx="2671762" cy="723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705475"/>
            <a:ext cx="2671762" cy="723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362" y="5705475"/>
            <a:ext cx="2671762" cy="723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875" y="895350"/>
            <a:ext cx="11668125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0" i="0" u="none">
                <a:solidFill>
                  <a:srgbClr val="0F172A"/>
                </a:solidFill>
                <a:latin typeface="Plus Jakarta Sans ExtraBold"/>
              </a:rPr>
              <a:t>Explainable Vision-Language Diagnostic Assistant for Chest Radiographs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5" y="1988641"/>
            <a:ext cx="10001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An offline, edge-optimized medical AI solution empowering rural health workers with automated chest X-ray interpretation, visual heatmap reasoning, and priority triage scoring.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5305425"/>
            <a:ext cx="116681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PROJECT GROUP MEMBERS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519112"/>
            <a:ext cx="133350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5895975"/>
            <a:ext cx="23479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P. Kavya Sai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15050"/>
            <a:ext cx="23479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Inter SemiBold"/>
              </a:rPr>
              <a:t>2420030322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9962" y="5895975"/>
            <a:ext cx="23479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P. Meghna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962" y="6115050"/>
            <a:ext cx="23479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Inter SemiBold"/>
              </a:rPr>
              <a:t>2420030401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5895975"/>
            <a:ext cx="23479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S. Anjana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4125" y="6115050"/>
            <a:ext cx="23479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Inter SemiBold"/>
              </a:rPr>
              <a:t>2420030499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8287" y="5895975"/>
            <a:ext cx="23479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D. Poojitha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8287" y="6115050"/>
            <a:ext cx="23479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Inter SemiBold"/>
              </a:rPr>
              <a:t>2420030697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104900"/>
            <a:ext cx="54197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5475" y="504825"/>
            <a:ext cx="21526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0575" y="1104900"/>
            <a:ext cx="51530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Acute Radiologist Shortage: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Primary health centers in rural regions lack specialist radiologists to read X-rays and detect conditions like pneumonia or tuberculosis.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862137"/>
            <a:ext cx="51530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Diagnostic Delays &amp; Travel Burden: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Patients travel vast distances to urban hospitals, delaying time-critical care and incurring heavy financial expense.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2405062"/>
            <a:ext cx="51530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Black-Box AI Mistrust: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Traditional AI systems provide class outputs without explanations, making local nurses reluctant to rely on machine predictions.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2947987"/>
            <a:ext cx="5153025" cy="201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1114425"/>
            <a:ext cx="5400675" cy="3600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113347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1890712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2433637"/>
            <a:ext cx="1905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Problem Statement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3467715"/>
            <a:ext cx="8801101" cy="1562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104900"/>
            <a:ext cx="3587799" cy="2162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1104900"/>
            <a:ext cx="3587799" cy="2162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75" y="504825"/>
            <a:ext cx="1809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69570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4286250"/>
            <a:ext cx="354044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350" b="1" dirty="0">
                <a:solidFill>
                  <a:srgbClr val="0369A1"/>
                </a:solidFill>
                <a:latin typeface="Plus Jakarta Sans"/>
              </a:rPr>
              <a:t>3</a:t>
            </a:r>
            <a:r>
              <a:rPr sz="1350" b="1" i="0" u="none" dirty="0">
                <a:solidFill>
                  <a:srgbClr val="0369A1"/>
                </a:solidFill>
                <a:latin typeface="Plus Jakarta Sans"/>
              </a:rPr>
              <a:t>. Automated Triage &amp; Priority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4581525"/>
            <a:ext cx="9601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Compute case urgency flags (e.g., "Please refer to specialist within 24 hours") so rural health workers can prioritize critical emergency cases immediately.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343025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900" y="1933575"/>
            <a:ext cx="206025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1. Multimodal Diagnosis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2228850"/>
            <a:ext cx="318774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Develop a vision-language assistant to generate plain-language diagnostic descriptions (e.g., "early signs of pneumonia") alongside class confidence scores.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199" y="1343025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199" y="1933575"/>
            <a:ext cx="181022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2. Visual 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199" y="2228850"/>
            <a:ext cx="318774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Incorporate Grad-CAM heatmaps and attention overlays that circle the exact anatomical regions of concern, giving healthcare workers verifiable proof.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3819525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537" y="1466850"/>
            <a:ext cx="161925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6024" y="1466850"/>
            <a:ext cx="20955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Project Objectives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104900"/>
            <a:ext cx="5419725" cy="28908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104900"/>
            <a:ext cx="5419725" cy="28908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3087" y="504825"/>
            <a:ext cx="2205037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950" y="1323975"/>
            <a:ext cx="5230653" cy="238125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Literature Survey (Existing 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7475" y="1323975"/>
            <a:ext cx="5230653" cy="2381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Identified Research Gaps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1362075"/>
            <a:ext cx="2190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50" y="1657350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Standard CNN Classifiers: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ResNet &amp; DenseNet models achieve strong classification accuracy on ChestX-ray14 but lack report generation capabilities.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2395537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Large Vision-Language Models: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Heavy Transformer architectures generate clinical reports but require GPU servers and stable cloud APIs.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133725"/>
            <a:ext cx="47148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Standalone Saliency Maps: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Heatmap tools highlight regions but fail to explain clinical severity or provide actionable triage advice.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1362075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34175" y="1657350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F172A"/>
                </a:solidFill>
                <a:latin typeface="Inter"/>
              </a:rPr>
              <a:t>Absence of Explainable Multimodal Grounding: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Existing systems rarely combine textual diagnostics with exact visual heatmap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4175" y="2395537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High Computational Overhead: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Complete absence of quantized, offline-capable vision-language models for edge smartphone hardware.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4175" y="3133725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Lack of Actionable Triage Systems: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Standard models output probabilities without translating them into emergency referral timelines for health workers.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1685925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2424112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3162300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685925"/>
            <a:ext cx="1143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2424112"/>
            <a:ext cx="1143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3162300"/>
            <a:ext cx="1143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Literature Survey &amp; Research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104900"/>
            <a:ext cx="3587799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1104900"/>
            <a:ext cx="3587799" cy="2162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474" y="1104900"/>
            <a:ext cx="3587799" cy="2162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862" y="504825"/>
            <a:ext cx="1719262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343025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900" y="1933575"/>
            <a:ext cx="203025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Dual-Stream VLM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228850"/>
            <a:ext cx="318774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Combines Vision Transformers (ViT) for spatial feature extraction, CLIP for vision-text alignment, and BLIP-2 for diagnostic report synthesis into a unified framework.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199" y="1343025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02199" y="1933575"/>
            <a:ext cx="199024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Transparent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2199" y="2228850"/>
            <a:ext cx="318774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Generates dual Grad-CAM heatmaps and cross-attention overlays on the X-ray scan, bridging the trust gap between automated AI outputs and rural clinical workers.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0499" y="1343025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80499" y="1933575"/>
            <a:ext cx="224028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Offline Edge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99" y="2228850"/>
            <a:ext cx="318774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Pioneers 8-bit quantization on multimodal medical networks, enabling complete offline execution on mid-range Android mobile devices in zero-connectivity posts.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537" y="1466850"/>
            <a:ext cx="1619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1737" y="1466850"/>
            <a:ext cx="238125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4324" y="1466850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Innovation, Creativity &amp; Novelty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409700"/>
            <a:ext cx="5419725" cy="2752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862" y="504825"/>
            <a:ext cx="1719262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1104900"/>
            <a:ext cx="569071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369A1"/>
                </a:solidFill>
                <a:latin typeface="Plus Jakarta Sans"/>
              </a:rPr>
              <a:t>Training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1104900"/>
            <a:ext cx="569071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369A1"/>
                </a:solidFill>
                <a:latin typeface="Plus Jakarta Sans"/>
              </a:rPr>
              <a:t>Pipeline Flow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71864"/>
              </p:ext>
            </p:extLst>
          </p:nvPr>
        </p:nvGraphicFramePr>
        <p:xfrm>
          <a:off x="813913" y="3187111"/>
          <a:ext cx="5400673" cy="273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34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Resource URL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Key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41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ChestX-ray14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NIH CC Box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112,120 chest X-rays with 14 disease labels.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41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OpenI (OpenAccess)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NLM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OpenI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7,470 X-rays paired with clinical radiology reports.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42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ROCO Medical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GitHub / ROCO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Multimodal radiology dataset for text-image alignment.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15100" y="1409700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Multi-Source Preprocessing: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Normalization &amp; augmentations.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1738312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ViT + CLIP Alignment: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Encodes spatial features into shared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066925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Dual Heads: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Disease Classifier + BLIP-2 Natural Text Generator.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2395537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Explainability Layer: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Grad-CAM heatmaps &amp; attention maps.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2724150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Android Runtime: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Quantized model providing offline triage.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2776537"/>
            <a:ext cx="15190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52488" y="2776537"/>
            <a:ext cx="123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84339" y="2776537"/>
            <a:ext cx="2649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3452812"/>
            <a:ext cx="15190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52488" y="3452812"/>
            <a:ext cx="123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84339" y="3452812"/>
            <a:ext cx="2649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438275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766887"/>
            <a:ext cx="1714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095500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2424112"/>
            <a:ext cx="1714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2752725"/>
            <a:ext cx="9525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Datasets &amp; Technical Methodology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00150"/>
            <a:ext cx="2671762" cy="2005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037" y="1200150"/>
            <a:ext cx="2671762" cy="2005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00150"/>
            <a:ext cx="2671762" cy="20050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362" y="1200150"/>
            <a:ext cx="2671762" cy="20050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5062" y="504825"/>
            <a:ext cx="1643062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28750"/>
            <a:ext cx="23479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Inter ExtraBold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28775"/>
            <a:ext cx="24653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Data Prep &amp;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9962" y="1428750"/>
            <a:ext cx="23479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Inter ExtraBold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9962" y="1628775"/>
            <a:ext cx="24653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Model &amp; 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4125" y="1428750"/>
            <a:ext cx="23479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Inter ExtraBold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4125" y="1628775"/>
            <a:ext cx="24653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Optimization &amp;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8287" y="1428750"/>
            <a:ext cx="23479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Inter ExtraBold"/>
              </a:rPr>
              <a:t>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8287" y="1628775"/>
            <a:ext cx="24653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Evaluation &amp;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1924050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Dataset curation (NIH, OpenI, ROCO)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2185987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Data preprocessing &amp; normalization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2447925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CLIP vision-text alignment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3312" y="1924050"/>
            <a:ext cx="22145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ViT encoder &amp; BLIP-2 report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3312" y="2371725"/>
            <a:ext cx="22145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Grad-CAM heatmap layer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3312" y="2819400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Attention overlay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475" y="1924050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INT8 model quantization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2185987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ONNX / Android runtime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2447925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Offline mobile performance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1637" y="1924050"/>
            <a:ext cx="22145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Metrics: Accuracy, Precision, Recall, F1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1637" y="2371725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Heatmap localization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1637" y="2633662"/>
            <a:ext cx="22145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Final presentation on 8th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92405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185987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447925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962" y="192405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9962" y="2371725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9962" y="281940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4125" y="192405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4125" y="2185987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4125" y="2447925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8287" y="192405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8287" y="2371725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8287" y="2633662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Project Plan &amp; Evaluation Strategy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85611" y="2198340"/>
            <a:ext cx="6220777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3900" b="0" i="0" u="none" dirty="0">
                <a:solidFill>
                  <a:srgbClr val="0F172A"/>
                </a:solidFill>
                <a:latin typeface="Plus Jakarta Sans ExtraBold"/>
              </a:rPr>
              <a:t>THANK YOU!</a:t>
            </a:r>
            <a:endParaRPr sz="3900" b="0" i="0" u="none" dirty="0">
              <a:solidFill>
                <a:srgbClr val="0F172A"/>
              </a:solidFill>
              <a:latin typeface="Plus Jakarta Sans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47875" y="3017490"/>
            <a:ext cx="80962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 dirty="0">
                <a:solidFill>
                  <a:srgbClr val="475569"/>
                </a:solidFill>
                <a:latin typeface="Inter"/>
              </a:rPr>
              <a:t>Our project aims to bridge the rural diagnostic gap by delivering an honest, explainable, and fully offline AI assistant — ensuring patients receive timely and safe care regardless of geographic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667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Inter</vt:lpstr>
      <vt:lpstr>Inter ExtraBold</vt:lpstr>
      <vt:lpstr>Inter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Dama Poojitha .</cp:lastModifiedBy>
  <cp:revision>4</cp:revision>
  <dcterms:created xsi:type="dcterms:W3CDTF">2013-01-27T09:14:16Z</dcterms:created>
  <dcterms:modified xsi:type="dcterms:W3CDTF">2026-09-16T11:31:03Z</dcterms:modified>
  <cp:category/>
</cp:coreProperties>
</file>